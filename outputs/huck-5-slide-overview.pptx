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ef5931e6404db3" /><Relationship Type="http://schemas.openxmlformats.org/officeDocument/2006/relationships/extended-properties" Target="/docProps/app.xml" Id="R9915a49124ad4ee7" /><Relationship Type="http://schemas.openxmlformats.org/officeDocument/2006/relationships/officeDocument" Target="/ppt/presentation.xml" Id="Rce627bba867345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0b5a0f142e43fa"/>
  </p:sldMasterIdLst>
  <p:notesMasterIdLst>
    <p:notesMasterId xmlns:r="http://schemas.openxmlformats.org/officeDocument/2006/relationships" r:id="Rcd71a54727304bad"/>
  </p:notesMasterIdLst>
  <p:sldIdLst>
    <p:sldId xmlns:r="http://schemas.openxmlformats.org/officeDocument/2006/relationships" id="256" r:id="R3a4808df3fc3474f"/>
    <p:sldId xmlns:r="http://schemas.openxmlformats.org/officeDocument/2006/relationships" id="257" r:id="Re361f0de17d04c82"/>
    <p:sldId xmlns:r="http://schemas.openxmlformats.org/officeDocument/2006/relationships" id="258" r:id="Rcd8fcec303a4433f"/>
    <p:sldId xmlns:r="http://schemas.openxmlformats.org/officeDocument/2006/relationships" id="259" r:id="R55e63d1ba1f04f51"/>
    <p:sldId xmlns:r="http://schemas.openxmlformats.org/officeDocument/2006/relationships" id="260" r:id="R65e0f3e673374a7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da8add8a2848a9" /><Relationship Type="http://schemas.openxmlformats.org/officeDocument/2006/relationships/slideMaster" Target="/ppt/slideMasters/slideMaster1.xml" Id="Re90b5a0f142e43fa" /><Relationship Type="http://schemas.openxmlformats.org/officeDocument/2006/relationships/notesMaster" Target="/ppt/notesMasters/notesMaster1.xml" Id="Rcd71a54727304bad" /><Relationship Type="http://schemas.openxmlformats.org/officeDocument/2006/relationships/presProps" Target="/ppt/presProps.xml" Id="R083c691995384c38" /><Relationship Type="http://schemas.openxmlformats.org/officeDocument/2006/relationships/tableStyles" Target="/ppt/tableStyles.xml" Id="R3a04878d738442bb" /><Relationship Type="http://schemas.openxmlformats.org/officeDocument/2006/relationships/slide" Target="/ppt/slides/slide1.xml" Id="R3a4808df3fc3474f" /><Relationship Type="http://schemas.openxmlformats.org/officeDocument/2006/relationships/slide" Target="/ppt/slides/slide2.xml" Id="Re361f0de17d04c82" /><Relationship Type="http://schemas.openxmlformats.org/officeDocument/2006/relationships/slide" Target="/ppt/slides/slide3.xml" Id="Rcd8fcec303a4433f" /><Relationship Type="http://schemas.openxmlformats.org/officeDocument/2006/relationships/slide" Target="/ppt/slides/slide4.xml" Id="R55e63d1ba1f04f51" /><Relationship Type="http://schemas.openxmlformats.org/officeDocument/2006/relationships/slide" Target="/ppt/slides/slide5.xml" Id="R65e0f3e673374a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b2f43cd0a14c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44a151c3ac4421" /><Relationship Type="http://schemas.openxmlformats.org/officeDocument/2006/relationships/notesMaster" Target="/ppt/notesMasters/notesMaster1.xml" Id="R4f32932590b24d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f56d108e734316" /><Relationship Type="http://schemas.openxmlformats.org/officeDocument/2006/relationships/notesMaster" Target="/ppt/notesMasters/notesMaster1.xml" Id="Ref7a9e28dae04d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b1e1d9cf6242e7" /><Relationship Type="http://schemas.openxmlformats.org/officeDocument/2006/relationships/notesMaster" Target="/ppt/notesMasters/notesMaster1.xml" Id="R2e3b119f8ac143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1db5e8e62d4290" /><Relationship Type="http://schemas.openxmlformats.org/officeDocument/2006/relationships/notesMaster" Target="/ppt/notesMasters/notesMaster1.xml" Id="Rccf5d24f662248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3802b64c144e33" /><Relationship Type="http://schemas.openxmlformats.org/officeDocument/2006/relationships/notesMaster" Target="/ppt/notesMasters/notesMaster1.xml" Id="R424f547b6c6843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6a6d87cbd544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588cf1adab4f53" /><Relationship Type="http://schemas.openxmlformats.org/officeDocument/2006/relationships/slideLayout" Target="/ppt/slideLayouts/slideLayout1.xml" Id="R2c700e7b7df144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700e7b7df144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1c198e2134a7b" /><Relationship Type="http://schemas.openxmlformats.org/officeDocument/2006/relationships/notesSlide" Target="/ppt/notesSlides/notesSlide1.xml" Id="Refd2ebad16644c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6c2955a9341d0" /><Relationship Type="http://schemas.openxmlformats.org/officeDocument/2006/relationships/notesSlide" Target="/ppt/notesSlides/notesSlide2.xml" Id="R1423866b26534a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ac37029604d58" /><Relationship Type="http://schemas.openxmlformats.org/officeDocument/2006/relationships/notesSlide" Target="/ppt/notesSlides/notesSlide3.xml" Id="R0225bdbab85242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324a0253e4e19" /><Relationship Type="http://schemas.openxmlformats.org/officeDocument/2006/relationships/notesSlide" Target="/ppt/notesSlides/notesSlide4.xml" Id="R7d4daedf832440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d7650fc214a47" /><Relationship Type="http://schemas.openxmlformats.org/officeDocument/2006/relationships/notesSlide" Target="/ppt/notesSlides/notesSlide5.xml" Id="R2ef808d854a44f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93E7F1-ADC9-4569-AA92-438E5A7C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0B981"/>
                </a:solidFill>
              </a:defRPr>
            </a:pPr>
            <a:r>
              <a:rPr sz="5100" b="1">
                <a:solidFill>
                  <a:srgbClr val="10B981"/>
                </a:solidFill>
              </a:rPr>
              <a:t>HUCK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54343-CBD2-4BC7-9292-A2F8B625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3F4F6"/>
                </a:solidFill>
              </a:defRPr>
            </a:pPr>
            <a:r>
              <a:rPr sz="2850" b="1">
                <a:solidFill>
                  <a:srgbClr val="F3F4F6"/>
                </a:solidFill>
              </a:rPr>
              <a:t>AI Freight Negotiator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351C4-C14C-430D-9F82-2B570F41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9CA3AF"/>
                </a:solidFill>
              </a:defRPr>
            </a:pPr>
            <a:r>
              <a:rPr sz="1950" b="0">
                <a:solidFill>
                  <a:srgbClr val="9CA3AF"/>
                </a:solidFill>
              </a:rPr>
              <a:t>Vision + Data + Voice + Text in one dispatch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1667A-02AF-4EDA-AE5E-D53EF234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57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3F4F6"/>
                </a:solidFill>
              </a:defRPr>
            </a:pPr>
            <a:r>
              <a:rPr sz="1575" b="0">
                <a:solidFill>
                  <a:srgbClr val="F3F4F6"/>
                </a:solidFill>
              </a:rPr>
              <a:t>Sync freight listings, rank loads against fleet data, call brokers with voice AI, and summarize every negotiation.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CAFC6-AA37-473A-A38A-53B7CB0A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838200"/>
            <a:ext cx="3143250" cy="4095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431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965C9-3CE4-4CE6-B974-1167C24D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00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B981"/>
                </a:solidFill>
              </a:defRPr>
            </a:pPr>
            <a:r>
              <a:rPr sz="975" b="1">
                <a:solidFill>
                  <a:srgbClr val="10B981"/>
                </a:solidFill>
              </a:rPr>
              <a:t>OPERATIONS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1B3B7-4906-4EBE-8ECF-1F031323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76400"/>
            <a:ext cx="2266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2431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80E06-8100-4B7E-B368-8DED5DF5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002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3F4F6"/>
                </a:solidFill>
              </a:defRPr>
            </a:pPr>
            <a:r>
              <a:rPr sz="1200" b="1">
                <a:solidFill>
                  <a:srgbClr val="F3F4F6"/>
                </a:solidFill>
              </a:rPr>
              <a:t>Screenshot → 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3ACAC-6D3B-4533-B27C-D72390E5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62200"/>
            <a:ext cx="2266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DF6C18-7548-4C1E-BE67-B913B0F2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860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3F4F6"/>
                </a:solidFill>
              </a:defRPr>
            </a:pPr>
            <a:r>
              <a:rPr sz="1200" b="1">
                <a:solidFill>
                  <a:srgbClr val="F3F4F6"/>
                </a:solidFill>
              </a:rPr>
              <a:t>Rank → Driver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7E18E-0511-449E-BDDA-6B6FD8D7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2266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2431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5D7393-85FE-4609-9EBE-CF81A96D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718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3F4F6"/>
                </a:solidFill>
              </a:defRPr>
            </a:pPr>
            <a:r>
              <a:rPr sz="1200" b="1">
                <a:solidFill>
                  <a:srgbClr val="F3F4F6"/>
                </a:solidFill>
              </a:rPr>
              <a:t>Call → Broker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CD6FA-0C1F-46AE-B675-CB815487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33800"/>
            <a:ext cx="2266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1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D60D6-91BD-47F4-9A3A-A2501047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57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3F4F6"/>
                </a:solidFill>
              </a:defRPr>
            </a:pPr>
            <a:r>
              <a:rPr sz="1200" b="1">
                <a:solidFill>
                  <a:srgbClr val="F3F4F6"/>
                </a:solidFill>
              </a:rPr>
              <a:t>Summarize → Deal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EBD7B-D260-412D-A700-B343F9BF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25730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0B981">
              <a:alpha val="13333"/>
            </a:srgbClr>
          </a:solidFill>
          <a:ln xmlns:a="http://schemas.openxmlformats.org/drawingml/2006/main" w="9525">
            <a:solidFill>
              <a:srgbClr val="10B981">
                <a:alpha val="46667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D38F2C-41C8-487F-B007-90E7645B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Next.js 16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3D15B9-8598-4287-828F-3EB661FB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34000"/>
            <a:ext cx="106680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0B981">
              <a:alpha val="13333"/>
            </a:srgbClr>
          </a:solidFill>
          <a:ln xmlns:a="http://schemas.openxmlformats.org/drawingml/2006/main" w="9525">
            <a:solidFill>
              <a:srgbClr val="10B981">
                <a:alpha val="46667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35A0BC-23EA-446F-B68D-6DC8741B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4102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React 19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39003E-87AF-41CF-A976-D4B67A9E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334000"/>
            <a:ext cx="114300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0B981">
              <a:alpha val="13333"/>
            </a:srgbClr>
          </a:solidFill>
          <a:ln xmlns:a="http://schemas.openxmlformats.org/drawingml/2006/main" w="9525">
            <a:solidFill>
              <a:srgbClr val="10B981">
                <a:alpha val="46667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AAE566-6FBB-493B-A3E0-FCDC5C14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4102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InsForge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62C992-1A3A-48B2-B456-90D6EE24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34000"/>
            <a:ext cx="81915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0B981">
              <a:alpha val="13333"/>
            </a:srgbClr>
          </a:solidFill>
          <a:ln xmlns:a="http://schemas.openxmlformats.org/drawingml/2006/main" w="9525">
            <a:solidFill>
              <a:srgbClr val="10B981">
                <a:alpha val="46667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387327-1926-4DCC-BA29-8A58E23C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41020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VAPI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C1CBF3-40C6-4079-983D-0980358D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334000"/>
            <a:ext cx="100965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0B981">
              <a:alpha val="13333"/>
            </a:srgbClr>
          </a:solidFill>
          <a:ln xmlns:a="http://schemas.openxmlformats.org/drawingml/2006/main" w="9525">
            <a:solidFill>
              <a:srgbClr val="10B981">
                <a:alpha val="46667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D36025-1C2E-471D-A03F-0CFA5771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41020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Gemini</a:t>
            </a:r>
          </a:p>
        </p:txBody>
      </p:sp>
    </p:spTree>
    <p:extLst>
      <p:ext uri="{BB962C8B-B14F-4D97-AF65-F5344CB8AC3E}">
        <p14:creationId xmlns:p14="http://schemas.microsoft.com/office/powerpoint/2010/main" val="2689601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67418B-703B-4613-9A36-F851E0B1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B981"/>
                </a:solidFill>
              </a:defRPr>
            </a:pPr>
            <a:r>
              <a:rPr sz="900" b="1">
                <a:solidFill>
                  <a:srgbClr val="10B981"/>
                </a:solidFill>
              </a:rPr>
              <a:t>SLIDE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C19CB-A3B1-4446-AA82-E2732479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3F4F6"/>
                </a:solidFill>
              </a:defRPr>
            </a:pPr>
            <a:r>
              <a:rPr sz="3150" b="1">
                <a:solidFill>
                  <a:srgbClr val="F3F4F6"/>
                </a:solidFill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72C4E-FC85-4E6D-9788-9A85C34E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CA3AF"/>
                </a:solidFill>
              </a:defRPr>
            </a:pPr>
            <a:r>
              <a:rPr sz="1425" b="0">
                <a:solidFill>
                  <a:srgbClr val="9CA3AF"/>
                </a:solidFill>
              </a:rPr>
              <a:t>Freight dispatch still depends on manual calls, gut-feel pricing, and scattered records.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055CB-72AD-4A7D-8A1E-DF36B748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53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1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542CD-7B37-4482-9BF7-9A016D60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3F4F6"/>
                </a:solidFill>
              </a:defRPr>
            </a:pPr>
            <a:r>
              <a:rPr sz="1800" b="1">
                <a:solidFill>
                  <a:srgbClr val="F3F4F6"/>
                </a:solidFill>
              </a:rPr>
              <a:t>Broker calls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731A0-0708-4398-9537-485853BA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A3AF"/>
                </a:solidFill>
              </a:defRPr>
            </a:pPr>
            <a:r>
              <a:rPr sz="1275" b="0">
                <a:solidFill>
                  <a:srgbClr val="9CA3AF"/>
                </a:solidFill>
              </a:rPr>
              <a:t>Manual, sequential phone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C1042-8EF4-42C6-804F-EC89E6A1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67000"/>
            <a:ext cx="125730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0B981">
              <a:alpha val="13333"/>
            </a:srgbClr>
          </a:solidFill>
          <a:ln xmlns:a="http://schemas.openxmlformats.org/drawingml/2006/main" w="9525">
            <a:solidFill>
              <a:srgbClr val="10B981">
                <a:alpha val="46667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7D322-F691-4301-993B-9E96EE1A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432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Hours/day lost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98AF5-0199-4C56-A153-DF079B88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86000"/>
            <a:ext cx="4953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1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31EED0-C344-437E-A99E-7195798A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3F4F6"/>
                </a:solidFill>
              </a:defRPr>
            </a:pPr>
            <a:r>
              <a:rPr sz="1800" b="1">
                <a:solidFill>
                  <a:srgbClr val="F3F4F6"/>
                </a:solidFill>
              </a:rPr>
              <a:t>Rate decisions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70E6B-E35B-4F46-BDD9-D08B35D1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84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A3AF"/>
                </a:solidFill>
              </a:defRPr>
            </a:pPr>
            <a:r>
              <a:rPr sz="1275" b="0">
                <a:solidFill>
                  <a:srgbClr val="9CA3AF"/>
                </a:solidFill>
              </a:rPr>
              <a:t>Posted rate judged by instinct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EB9DD7-C748-4990-B641-C2147260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67000"/>
            <a:ext cx="125730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59E0B">
              <a:alpha val="13333"/>
            </a:srgbClr>
          </a:solidFill>
          <a:ln xmlns:a="http://schemas.openxmlformats.org/drawingml/2006/main" w="9525">
            <a:solidFill>
              <a:srgbClr val="F59E0B">
                <a:alpha val="46667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D06FFC-27F1-421D-AA7C-22D7CBB2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432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9E0B"/>
                </a:solidFill>
              </a:defRPr>
            </a:pPr>
            <a:r>
              <a:rPr sz="1050" b="1">
                <a:solidFill>
                  <a:srgbClr val="F59E0B"/>
                </a:solidFill>
              </a:rPr>
              <a:t>Margin leakage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047063-30B3-473D-83E8-E69A5E16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953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1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FF1EEB-F43C-48EA-8674-1D86DD4D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3F4F6"/>
                </a:solidFill>
              </a:defRPr>
            </a:pPr>
            <a:r>
              <a:rPr sz="1800" b="1">
                <a:solidFill>
                  <a:srgbClr val="F3F4F6"/>
                </a:solidFill>
              </a:rPr>
              <a:t>Driver matching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7B50D3-DF77-4061-BBAA-829F78C1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A3AF"/>
                </a:solidFill>
              </a:defRPr>
            </a:pPr>
            <a:r>
              <a:rPr sz="1275" b="0">
                <a:solidFill>
                  <a:srgbClr val="9CA3AF"/>
                </a:solidFill>
              </a:rPr>
              <a:t>Spreadsheet logic and tribal knowledge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50D78F-6D77-4504-B5C4-CDCFDFF9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191000"/>
            <a:ext cx="125730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0B981">
              <a:alpha val="13333"/>
            </a:srgbClr>
          </a:solidFill>
          <a:ln xmlns:a="http://schemas.openxmlformats.org/drawingml/2006/main" w="9525">
            <a:solidFill>
              <a:srgbClr val="10B981">
                <a:alpha val="46667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5FB110-99F1-4B4A-893C-046167BC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672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Empty miles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C0478F-D9E3-4EB0-BAA9-2ED7F0AF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10000"/>
            <a:ext cx="4953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1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0E7BF4-BAAB-4A98-983E-BDE2C543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9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3F4F6"/>
                </a:solidFill>
              </a:defRPr>
            </a:pPr>
            <a:r>
              <a:rPr sz="1800" b="1">
                <a:solidFill>
                  <a:srgbClr val="F3F4F6"/>
                </a:solidFill>
              </a:rPr>
              <a:t>Call records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ECE4DA-F312-47FB-8DAB-90DD8B9F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624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A3AF"/>
                </a:solidFill>
              </a:defRPr>
            </a:pPr>
            <a:r>
              <a:rPr sz="1275" b="0">
                <a:solidFill>
                  <a:srgbClr val="9CA3AF"/>
                </a:solidFill>
              </a:rPr>
              <a:t>Incomplete notes and missing outcomes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A7C88A-26A1-4A58-B0A8-75A9ACEF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91000"/>
            <a:ext cx="125730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87171">
              <a:alpha val="13333"/>
            </a:srgbClr>
          </a:solidFill>
          <a:ln xmlns:a="http://schemas.openxmlformats.org/drawingml/2006/main" w="9525">
            <a:solidFill>
              <a:srgbClr val="F87171">
                <a:alpha val="46667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DF931E-CF10-4CFD-840C-448392F2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672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7171"/>
                </a:solidFill>
              </a:defRPr>
            </a:pPr>
            <a:r>
              <a:rPr sz="1050" b="1">
                <a:solidFill>
                  <a:srgbClr val="F87171"/>
                </a:solidFill>
              </a:rPr>
              <a:t>No learning loop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1FDE2C-C73D-4DEF-96A1-565E1D99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340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B981"/>
                </a:solidFill>
              </a:defRPr>
            </a:pPr>
            <a:r>
              <a:rPr sz="1800" b="1">
                <a:solidFill>
                  <a:srgbClr val="10B981"/>
                </a:solidFill>
              </a:rPr>
              <a:t>A dispatcher can only be on one call at a time. HUCK can scale the loop.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4C2F6E-3A55-4402-A0C4-020A555B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CA3AF"/>
                </a:solidFill>
              </a:defRPr>
            </a:pPr>
            <a:r>
              <a:rPr sz="825" b="0">
                <a:solidFill>
                  <a:srgbClr val="9CA3AF"/>
                </a:solidFill>
              </a:rPr>
              <a:t>HUCK overview · 2/5</a:t>
            </a:r>
          </a:p>
        </p:txBody>
      </p:sp>
    </p:spTree>
    <p:extLst>
      <p:ext uri="{BB962C8B-B14F-4D97-AF65-F5344CB8AC3E}">
        <p14:creationId xmlns:p14="http://schemas.microsoft.com/office/powerpoint/2010/main" val="1385287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24BAF4-9AFF-477A-B08F-31FEF8F9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B981"/>
                </a:solidFill>
              </a:defRPr>
            </a:pPr>
            <a:r>
              <a:rPr sz="900" b="1">
                <a:solidFill>
                  <a:srgbClr val="10B981"/>
                </a:solidFill>
              </a:rPr>
              <a:t>SLIDE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E1E70-E7EC-46FC-BF8B-195F0053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3F4F6"/>
                </a:solidFill>
              </a:defRPr>
            </a:pPr>
            <a:r>
              <a:rPr sz="3150" b="1">
                <a:solidFill>
                  <a:srgbClr val="F3F4F6"/>
                </a:solidFill>
              </a:rPr>
              <a:t>The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581DE-3B80-4005-96EA-14E5483E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CA3AF"/>
                </a:solidFill>
              </a:defRPr>
            </a:pPr>
            <a:r>
              <a:rPr sz="1425" b="0">
                <a:solidFill>
                  <a:srgbClr val="9CA3AF"/>
                </a:solidFill>
              </a:rPr>
              <a:t>A multimodal workflow that turns source data into negotiated outcomes.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FA548-9A36-43A2-B3BB-9ADA4B98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2381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00E09-0D4D-4D69-9713-B8263EBB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38BDF8">
              <a:alpha val="13333"/>
            </a:srgbClr>
          </a:solidFill>
          <a:ln xmlns:a="http://schemas.openxmlformats.org/drawingml/2006/main" w="9525">
            <a:solidFill>
              <a:srgbClr val="38BDF8">
                <a:alpha val="53333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9207C-ED7E-495F-95CF-84119448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050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8BDF8"/>
                </a:solidFill>
              </a:defRPr>
            </a:pPr>
            <a:r>
              <a:rPr sz="1800" b="1">
                <a:solidFill>
                  <a:srgbClr val="38BDF8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2268C-6876-48DF-8975-8B35946B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3F4F6"/>
                </a:solidFill>
              </a:defRPr>
            </a:pPr>
            <a:r>
              <a:rPr sz="1875" b="1">
                <a:solidFill>
                  <a:srgbClr val="F3F4F6"/>
                </a:solidFill>
              </a:rPr>
              <a:t>Vision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BB11F7-F8ED-4CB1-9B2C-25EACDEF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CA3AF"/>
                </a:solidFill>
              </a:defRPr>
            </a:pPr>
            <a:r>
              <a:rPr sz="1200" b="0">
                <a:solidFill>
                  <a:srgbClr val="9CA3AF"/>
                </a:solidFill>
              </a:rPr>
              <a:t>DAT screenshots become structured load records.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3BFD8-89F5-4780-8A6B-E6CDEDEB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71700"/>
            <a:ext cx="2381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8DBFE-6BA6-44B3-AB39-944A1C68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003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0B981">
              <a:alpha val="13333"/>
            </a:srgbClr>
          </a:solidFill>
          <a:ln xmlns:a="http://schemas.openxmlformats.org/drawingml/2006/main" w="9525">
            <a:solidFill>
              <a:srgbClr val="10B981">
                <a:alpha val="53333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AA459F-EAEA-49A9-B892-30CDD2B7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050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B981"/>
                </a:solidFill>
              </a:defRPr>
            </a:pPr>
            <a:r>
              <a:rPr sz="1800" b="1">
                <a:solidFill>
                  <a:srgbClr val="10B981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0A4BA-46F1-48C9-9CBA-5CC80355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051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3F4F6"/>
                </a:solidFill>
              </a:defRPr>
            </a:pPr>
            <a:r>
              <a:rPr sz="1875" b="1">
                <a:solidFill>
                  <a:srgbClr val="F3F4F6"/>
                </a:solidFill>
              </a:rPr>
              <a:t>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393D1-9D01-4708-8D6C-165A4D90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43300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CA3AF"/>
                </a:solidFill>
              </a:defRPr>
            </a:pPr>
            <a:r>
              <a:rPr sz="1200" b="0">
                <a:solidFill>
                  <a:srgbClr val="9CA3AF"/>
                </a:solidFill>
              </a:rPr>
              <a:t>Spot-rate gaps, deadhead distance, equipment, and HOS drive ranking.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DAAA7-894C-4A48-952C-E36E81D2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2381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8D245B-3790-44D8-9557-A2CD5673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59E0B">
              <a:alpha val="13333"/>
            </a:srgbClr>
          </a:solidFill>
          <a:ln xmlns:a="http://schemas.openxmlformats.org/drawingml/2006/main" w="9525">
            <a:solidFill>
              <a:srgbClr val="F59E0B">
                <a:alpha val="53333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C82A11-DFD7-4C54-9081-8CA6DE54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050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9E0B"/>
                </a:solidFill>
              </a:defRPr>
            </a:pPr>
            <a:r>
              <a:rPr sz="1800" b="1">
                <a:solidFill>
                  <a:srgbClr val="F59E0B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785A4C-C51A-424A-8E34-E7C6F0F2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051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3F4F6"/>
                </a:solidFill>
              </a:defRPr>
            </a:pPr>
            <a:r>
              <a:rPr sz="1875" b="1">
                <a:solidFill>
                  <a:srgbClr val="F3F4F6"/>
                </a:solidFill>
              </a:rPr>
              <a:t>Voice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4223B8-7DE1-4B42-976C-1A07CE90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43300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CA3AF"/>
                </a:solidFill>
              </a:defRPr>
            </a:pPr>
            <a:r>
              <a:rPr sz="1200" b="0">
                <a:solidFill>
                  <a:srgbClr val="9CA3AF"/>
                </a:solidFill>
              </a:rPr>
              <a:t>VAPI calls brokers to accept, counter, or defer.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38773B-8175-4243-9B28-39B5B051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71700"/>
            <a:ext cx="2381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998D8D-BC02-4D21-A43F-22F9E834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A78BFA">
              <a:alpha val="13333"/>
            </a:srgbClr>
          </a:solidFill>
          <a:ln xmlns:a="http://schemas.openxmlformats.org/drawingml/2006/main" w="9525">
            <a:solidFill>
              <a:srgbClr val="A78BFA">
                <a:alpha val="53333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56D61C-0CA4-4B5E-A3F5-47157323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050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78BFA"/>
                </a:solidFill>
              </a:defRPr>
            </a:pPr>
            <a:r>
              <a:rPr sz="1800" b="1">
                <a:solidFill>
                  <a:srgbClr val="A78BFA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2887F2-0774-4870-9A6A-182C059E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051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3F4F6"/>
                </a:solidFill>
              </a:defRPr>
            </a:pPr>
            <a:r>
              <a:rPr sz="1875" b="1">
                <a:solidFill>
                  <a:srgbClr val="F3F4F6"/>
                </a:solidFill>
              </a:rPr>
              <a:t>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970934-1438-4293-860C-3193DFE6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43300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CA3AF"/>
                </a:solidFill>
              </a:defRPr>
            </a:pPr>
            <a:r>
              <a:rPr sz="1200" b="0">
                <a:solidFill>
                  <a:srgbClr val="9CA3AF"/>
                </a:solidFill>
              </a:rPr>
              <a:t>Gemini summarizes transcript, final rate, sentiment, and next steps.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501068-EFF7-47BD-A7F0-FCC04A5E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48250"/>
            <a:ext cx="9029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52E2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F26D50-6873-414E-876B-FA714725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238750"/>
            <a:ext cx="842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B981"/>
                </a:solidFill>
              </a:defRPr>
            </a:pPr>
            <a:r>
              <a:rPr sz="2025" b="1">
                <a:solidFill>
                  <a:srgbClr val="10B981"/>
                </a:solidFill>
              </a:rPr>
              <a:t>One click: rank, call, negotiate, log, and review.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AB32C7-7049-408A-95E8-548274E3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CA3AF"/>
                </a:solidFill>
              </a:defRPr>
            </a:pPr>
            <a:r>
              <a:rPr sz="825" b="0">
                <a:solidFill>
                  <a:srgbClr val="9CA3AF"/>
                </a:solidFill>
              </a:rPr>
              <a:t>HUCK overview · 3/5</a:t>
            </a:r>
          </a:p>
        </p:txBody>
      </p:sp>
    </p:spTree>
    <p:extLst>
      <p:ext uri="{BB962C8B-B14F-4D97-AF65-F5344CB8AC3E}">
        <p14:creationId xmlns:p14="http://schemas.microsoft.com/office/powerpoint/2010/main" val="8766685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A558D4-28E0-4B55-B088-8ECDF112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B981"/>
                </a:solidFill>
              </a:defRPr>
            </a:pPr>
            <a:r>
              <a:rPr sz="900" b="1">
                <a:solidFill>
                  <a:srgbClr val="10B981"/>
                </a:solidFill>
              </a:rPr>
              <a:t>SLIDE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504DE-33A4-483A-99FB-A6A350B9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3F4F6"/>
                </a:solidFill>
              </a:defRPr>
            </a:pPr>
            <a:r>
              <a:rPr sz="3150" b="1">
                <a:solidFill>
                  <a:srgbClr val="F3F4F6"/>
                </a:solidFill>
              </a:rPr>
              <a:t>How It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2B768-4C64-44FC-A835-C3287BE1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CA3AF"/>
                </a:solidFill>
              </a:defRPr>
            </a:pPr>
            <a:r>
              <a:rPr sz="1425" b="0">
                <a:solidFill>
                  <a:srgbClr val="9CA3AF"/>
                </a:solidFill>
              </a:rPr>
              <a:t>The dashboard keeps the operator in control while AI handles the repetitive loop.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0C845-204B-4627-B728-97425641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2DCDE-B9C3-492C-87E3-583325A9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6222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3F4F6"/>
                </a:solidFill>
              </a:defRPr>
            </a:pPr>
            <a:r>
              <a:rPr sz="1350" b="1">
                <a:solidFill>
                  <a:srgbClr val="F3F4F6"/>
                </a:solidFill>
              </a:rPr>
              <a:t>Motive Fleet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BD9E3-80E5-42DA-82B3-1AC5FC8F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901038-C584-4F80-AB7A-ED5426AD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3F4F6"/>
                </a:solidFill>
              </a:defRPr>
            </a:pPr>
            <a:r>
              <a:rPr sz="1350" b="1">
                <a:solidFill>
                  <a:srgbClr val="F3F4F6"/>
                </a:solidFill>
              </a:rPr>
              <a:t>DAT Load 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9AD9A-369E-4305-854A-9C948EEB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7EE3A-AE89-4672-A9F3-308297FB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5755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3F4F6"/>
                </a:solidFill>
              </a:defRPr>
            </a:pPr>
            <a:r>
              <a:rPr sz="1350" b="1">
                <a:solidFill>
                  <a:srgbClr val="F3F4F6"/>
                </a:solidFill>
              </a:rPr>
              <a:t>HUCK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3CCC2-7029-4CB4-A6AC-C0BB8883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72000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AAF03-4D6C-4087-96FD-FBBE6BEE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006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3F4F6"/>
                </a:solidFill>
              </a:defRPr>
            </a:pPr>
            <a:r>
              <a:rPr sz="1350" b="1">
                <a:solidFill>
                  <a:srgbClr val="F3F4F6"/>
                </a:solidFill>
              </a:rPr>
              <a:t>Rate + Driver 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EFE4C6-7AD6-4DBE-99FD-5FF98807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FD182-EB8A-4DBC-9D4F-73094C60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5755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3F4F6"/>
                </a:solidFill>
              </a:defRPr>
            </a:pPr>
            <a:r>
              <a:rPr sz="1350" b="1">
                <a:solidFill>
                  <a:srgbClr val="F3F4F6"/>
                </a:solidFill>
              </a:rPr>
              <a:t>VAPI Voice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09785B-6C12-43F8-B63F-A7E6A542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72000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C9E838-318C-4C3F-984B-3F084782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006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3F4F6"/>
                </a:solidFill>
              </a:defRPr>
            </a:pPr>
            <a:r>
              <a:rPr sz="1350" b="1">
                <a:solidFill>
                  <a:srgbClr val="F3F4F6"/>
                </a:solidFill>
              </a:rPr>
              <a:t>Gemini Summary + Logs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63FB5-6C85-42BE-84A8-2A090CDD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86050"/>
            <a:ext cx="914400" cy="6477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8BDF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A1A19-54A2-479D-B79A-7BB91E34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67175"/>
            <a:ext cx="914400" cy="-67627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B95535-83D1-4FA5-9787-C4018F45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733800"/>
            <a:ext cx="0" cy="8382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0B98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1D6C56-9292-4433-8BA6-29817B77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81375"/>
            <a:ext cx="12573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0B98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AAA270-E6BF-44F6-A6E2-44461DB4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733800"/>
            <a:ext cx="0" cy="8382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7D99E2-C97E-42C2-B78C-FB627079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10250"/>
            <a:ext cx="891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9CA3AF"/>
                </a:solidFill>
              </a:defRPr>
            </a:pPr>
            <a:r>
              <a:rPr sz="1575" b="0">
                <a:solidFill>
                  <a:srgbClr val="9CA3AF"/>
                </a:solidFill>
              </a:rPr>
              <a:t>Strategy: accept when posted rate meets market; counter when the lane is under spot.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C5CCCA-21FF-433A-8766-8432E472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CA3AF"/>
                </a:solidFill>
              </a:defRPr>
            </a:pPr>
            <a:r>
              <a:rPr sz="825" b="0">
                <a:solidFill>
                  <a:srgbClr val="9CA3AF"/>
                </a:solidFill>
              </a:rPr>
              <a:t>HUCK overview · 4/5</a:t>
            </a:r>
          </a:p>
        </p:txBody>
      </p:sp>
    </p:spTree>
    <p:extLst>
      <p:ext uri="{BB962C8B-B14F-4D97-AF65-F5344CB8AC3E}">
        <p14:creationId xmlns:p14="http://schemas.microsoft.com/office/powerpoint/2010/main" val="11156016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DF8312-C30C-4714-8E86-B749F044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B981"/>
                </a:solidFill>
              </a:defRPr>
            </a:pPr>
            <a:r>
              <a:rPr sz="900" b="1">
                <a:solidFill>
                  <a:srgbClr val="10B981"/>
                </a:solidFill>
              </a:rPr>
              <a:t>SLIDE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69DDC-78F5-4DAA-BAF5-18CCF904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3F4F6"/>
                </a:solidFill>
              </a:defRPr>
            </a:pPr>
            <a:r>
              <a:rPr sz="3150" b="1">
                <a:solidFill>
                  <a:srgbClr val="F3F4F6"/>
                </a:solidFill>
              </a:rPr>
              <a:t>Status +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49BC7-7DBF-4337-A30F-FBBF57FE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CA3AF"/>
                </a:solidFill>
              </a:defRPr>
            </a:pPr>
            <a:r>
              <a:rPr sz="1425" b="0">
                <a:solidFill>
                  <a:srgbClr val="9CA3AF"/>
                </a:solidFill>
              </a:rPr>
              <a:t>The current product is an end-to-end operations demo with a unified dark UI.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4B39B-207D-4B1D-89E7-4C2A6191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5143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431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37646-1F6D-4B6C-B8EC-1BDB7044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B981"/>
                </a:solidFill>
              </a:defRPr>
            </a:pPr>
            <a:r>
              <a:rPr sz="1200" b="1">
                <a:solidFill>
                  <a:srgbClr val="10B981"/>
                </a:solidFill>
              </a:rPr>
              <a:t>Auth + backend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89A6B-74EE-45AF-8274-01454FED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431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3F4F6"/>
                </a:solidFill>
              </a:defRPr>
            </a:pPr>
            <a:r>
              <a:rPr sz="1050" b="0">
                <a:solidFill>
                  <a:srgbClr val="F3F4F6"/>
                </a:solidFill>
              </a:rPr>
              <a:t>InsForge auth, Postgres, storage, API routes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6DD09-D4CB-4115-8838-9ADAE386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4610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431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96221-E7D8-4409-A969-50BD1D08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194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B981"/>
                </a:solidFill>
              </a:defRPr>
            </a:pPr>
            <a:r>
              <a:rPr sz="1200" b="1">
                <a:solidFill>
                  <a:srgbClr val="10B981"/>
                </a:solidFill>
              </a:rPr>
              <a:t>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5E325-CAC8-4174-9CDB-62C46B5F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19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3F4F6"/>
                </a:solidFill>
              </a:defRPr>
            </a:pPr>
            <a:r>
              <a:rPr sz="1050" b="0">
                <a:solidFill>
                  <a:srgbClr val="F3F4F6"/>
                </a:solidFill>
              </a:rPr>
              <a:t>Unified dark emerald operations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32509-C112-454A-BDED-C0C69168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4610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431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FCD59-2A1E-4405-AF56-E2F93D76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956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B981"/>
                </a:solidFill>
              </a:defRPr>
            </a:pPr>
            <a:r>
              <a:rPr sz="1200" b="1">
                <a:solidFill>
                  <a:srgbClr val="10B981"/>
                </a:solidFill>
              </a:rPr>
              <a:t>Tables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4E0181-F5C6-4346-BA49-76AA5697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956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3F4F6"/>
                </a:solidFill>
              </a:defRPr>
            </a:pPr>
            <a:r>
              <a:rPr sz="1050" b="0">
                <a:solidFill>
                  <a:srgbClr val="F3F4F6"/>
                </a:solidFill>
              </a:rPr>
              <a:t>TanStack-powered load, call, driver, vehicle views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5C66AE-4C54-40BA-83A9-7FA68935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4610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431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1D100-5F61-40B6-8798-90D4D577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B981"/>
                </a:solidFill>
              </a:defRPr>
            </a:pPr>
            <a:r>
              <a:rPr sz="1200" b="1">
                <a:solidFill>
                  <a:srgbClr val="10B981"/>
                </a:solidFill>
              </a:rPr>
              <a:t>Maps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461AF8-AF19-46A2-8B93-65955037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7719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3F4F6"/>
                </a:solidFill>
              </a:defRPr>
            </a:pPr>
            <a:r>
              <a:rPr sz="1050" b="0">
                <a:solidFill>
                  <a:srgbClr val="F3F4F6"/>
                </a:solidFill>
              </a:rPr>
              <a:t>Leaflet fleet and load visualization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134E67-75A1-419A-9EEF-D1D1CCE8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4610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431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FED471-4792-4B9A-AA8B-5A719ECF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481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B981"/>
                </a:solidFill>
              </a:defRPr>
            </a:pPr>
            <a:r>
              <a:rPr sz="1200" b="1">
                <a:solidFill>
                  <a:srgbClr val="10B981"/>
                </a:solidFill>
              </a:rPr>
              <a:t>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17440F-920C-4BED-ADB1-2594F177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481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3F4F6"/>
                </a:solidFill>
              </a:defRPr>
            </a:pPr>
            <a:r>
              <a:rPr sz="1050" b="0">
                <a:solidFill>
                  <a:srgbClr val="F3F4F6"/>
                </a:solidFill>
              </a:rPr>
              <a:t>Gemini parsing/summaries and VAPI outbound calls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9C8572-92CC-43AD-A2BA-DA682CA2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95500"/>
            <a:ext cx="43434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431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AC0E22-EBDA-4274-9F52-C9627843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00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3F4F6"/>
                </a:solidFill>
              </a:defRPr>
            </a:pPr>
            <a:r>
              <a:rPr sz="1950" b="1">
                <a:solidFill>
                  <a:srgbClr val="F3F4F6"/>
                </a:solidFill>
              </a:rPr>
              <a:t>Demo 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0F5199-EC0F-4408-BF71-7FB7978F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956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B981"/>
                </a:solidFill>
              </a:defRPr>
            </a:pPr>
            <a:r>
              <a:rPr sz="1125" b="1">
                <a:solidFill>
                  <a:srgbClr val="10B981"/>
                </a:solidFill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BA5CDF-76E5-4323-BF40-844110F9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956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3F4F6"/>
                </a:solidFill>
              </a:defRPr>
            </a:pPr>
            <a:r>
              <a:rPr sz="1275" b="0">
                <a:solidFill>
                  <a:srgbClr val="F3F4F6"/>
                </a:solidFill>
              </a:rPr>
              <a:t>Sign 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BFC11D-BCA9-4F5E-8E3D-FB9A759D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194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B981"/>
                </a:solidFill>
              </a:defRPr>
            </a:pPr>
            <a:r>
              <a:rPr sz="1125" b="1">
                <a:solidFill>
                  <a:srgbClr val="10B981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BAE201-5028-4664-89CE-3E2D19A5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19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3F4F6"/>
                </a:solidFill>
              </a:defRPr>
            </a:pPr>
            <a:r>
              <a:rPr sz="1275" b="0">
                <a:solidFill>
                  <a:srgbClr val="F3F4F6"/>
                </a:solidFill>
              </a:rPr>
              <a:t>Sync fleet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D249E0-0D12-419D-ADAD-FFF62DDE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433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B981"/>
                </a:solidFill>
              </a:defRPr>
            </a:pPr>
            <a:r>
              <a:rPr sz="1125" b="1">
                <a:solidFill>
                  <a:srgbClr val="10B981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F88A5A-3F83-44B1-BB6C-36E02042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43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3F4F6"/>
                </a:solidFill>
              </a:defRPr>
            </a:pPr>
            <a:r>
              <a:rPr sz="1275" b="0">
                <a:solidFill>
                  <a:srgbClr val="F3F4F6"/>
                </a:solidFill>
              </a:rPr>
              <a:t>Sync loads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25493B-D3EE-445B-817D-6AF72D1E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671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B981"/>
                </a:solidFill>
              </a:defRPr>
            </a:pPr>
            <a:r>
              <a:rPr sz="1125" b="1">
                <a:solidFill>
                  <a:srgbClr val="10B981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EA566C-6960-4347-9253-59CE8416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67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3F4F6"/>
                </a:solidFill>
              </a:defRPr>
            </a:pPr>
            <a:r>
              <a:rPr sz="1275" b="0">
                <a:solidFill>
                  <a:srgbClr val="F3F4F6"/>
                </a:solidFill>
              </a:rPr>
              <a:t>Rank drivers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5C032E-E6D6-4E3F-8F7D-C1CEDDDA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910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B981"/>
                </a:solidFill>
              </a:defRPr>
            </a:pPr>
            <a:r>
              <a:rPr sz="1125" b="1">
                <a:solidFill>
                  <a:srgbClr val="10B981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BBB064-56FC-42A7-A808-CEFD860D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91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3F4F6"/>
                </a:solidFill>
              </a:defRPr>
            </a:pPr>
            <a:r>
              <a:rPr sz="1275" b="0">
                <a:solidFill>
                  <a:srgbClr val="F3F4F6"/>
                </a:solidFill>
              </a:rPr>
              <a:t>Negotiate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1EDE02-E2F8-4C2D-B8D5-56CE3A3C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148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B981"/>
                </a:solidFill>
              </a:defRPr>
            </a:pPr>
            <a:r>
              <a:rPr sz="1125" b="1">
                <a:solidFill>
                  <a:srgbClr val="10B981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C45EDD-15E4-4FAB-A3EA-693189B8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14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3F4F6"/>
                </a:solidFill>
              </a:defRPr>
            </a:pPr>
            <a:r>
              <a:rPr sz="1275" b="0">
                <a:solidFill>
                  <a:srgbClr val="F3F4F6"/>
                </a:solidFill>
              </a:rPr>
              <a:t>Review outcome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6C5B71-6B9F-42CA-A7C9-70EBB009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38800"/>
            <a:ext cx="7239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52E2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0CFEB5-B3BD-4A51-AB13-7BCFFC4C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912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B981"/>
                </a:solidFill>
              </a:defRPr>
            </a:pPr>
            <a:r>
              <a:rPr sz="1650" b="1">
                <a:solidFill>
                  <a:srgbClr val="10B981"/>
                </a:solidFill>
              </a:rPr>
              <a:t>Run locally: npm run dev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1A8D5B-B191-43F1-A9DF-7A151C1E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CA3AF"/>
                </a:solidFill>
              </a:defRPr>
            </a:pPr>
            <a:r>
              <a:rPr sz="825" b="0">
                <a:solidFill>
                  <a:srgbClr val="9CA3AF"/>
                </a:solidFill>
              </a:rPr>
              <a:t>HUCK overview · 5/5</a:t>
            </a:r>
          </a:p>
        </p:txBody>
      </p:sp>
    </p:spTree>
    <p:extLst>
      <p:ext uri="{BB962C8B-B14F-4D97-AF65-F5344CB8AC3E}">
        <p14:creationId xmlns:p14="http://schemas.microsoft.com/office/powerpoint/2010/main" val="1373238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2026-06-19T23:06:25.5660000Z</dcterms:created>
  <dcterms:modified xsi:type="dcterms:W3CDTF">2026-06-19T23:06:25.5660000Z</dcterms:modified>
</coreProperties>
</file>